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DM Sans SemiBold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Fraunces SemiBold" charset="0"/>
      <p:regular r:id="rId19"/>
    </p:embeddedFont>
    <p:embeddedFont>
      <p:font typeface="DM Sans" charset="0"/>
      <p:regular r:id="rId20"/>
    </p:embeddedFont>
    <p:embeddedFont>
      <p:font typeface="DM Sans Bold" charset="0"/>
      <p:regular r:id="rId21"/>
    </p:embeddedFont>
    <p:embeddedFont>
      <p:font typeface="Calibri Light" pitchFamily="34" charset="0"/>
      <p:regular r:id="rId22"/>
      <p: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-739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82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82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92653" cy="6858000"/>
          </a:xfrm>
          <a:custGeom>
            <a:avLst/>
            <a:gdLst/>
            <a:ahLst/>
            <a:cxnLst/>
            <a:rect l="l" t="t" r="r" b="b"/>
            <a:pathLst>
              <a:path w="5892653" h="6858000">
                <a:moveTo>
                  <a:pt x="26991" y="0"/>
                </a:moveTo>
                <a:lnTo>
                  <a:pt x="5892653" y="0"/>
                </a:lnTo>
                <a:lnTo>
                  <a:pt x="5892653" y="6858000"/>
                </a:lnTo>
                <a:lnTo>
                  <a:pt x="26991" y="6858000"/>
                </a:lnTo>
                <a:arcTo wR="26991" hR="26991" stAng="5400000" swAng="5400000"/>
                <a:lnTo>
                  <a:pt x="0" y="26991"/>
                </a:lnTo>
                <a:arcTo wR="26991" hR="26991" stAng="10800000" swAng="5400000"/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3" name="Text 1"/>
          <p:cNvSpPr/>
          <p:nvPr/>
        </p:nvSpPr>
        <p:spPr>
          <a:xfrm>
            <a:off x="685783" y="609600"/>
            <a:ext cx="538466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DD LPU HACKATHON · WAYFINDING PROTOTYPE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783" y="2191147"/>
            <a:ext cx="4775081" cy="25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7200" kern="0" spc="-288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Lost between</a:t>
            </a:r>
            <a:endParaRPr lang="en-US" sz="72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200" i="1" kern="0" spc="-288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buildings?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85783" y="4982964"/>
            <a:ext cx="596885" cy="31651"/>
          </a:xfrm>
          <a:prstGeom prst="roundRect">
            <a:avLst>
              <a:gd name="adj" fmla="val 49998"/>
            </a:avLst>
          </a:prstGeom>
          <a:solidFill>
            <a:srgbClr val="7A1F2B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5260777"/>
            <a:ext cx="477508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LPU Campus Wayfinder turns campus uncertainty into one searchable visual answer.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783" y="6067425"/>
            <a:ext cx="538466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AF7F2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LOVELY PROFESSIONAL UNIVERSITY, PHAGWARA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92653" y="0"/>
            <a:ext cx="6299042" cy="6858000"/>
          </a:xfrm>
          <a:custGeom>
            <a:avLst/>
            <a:gdLst/>
            <a:ahLst/>
            <a:cxnLst/>
            <a:rect l="l" t="t" r="r" b="b"/>
            <a:pathLst>
              <a:path w="6299042" h="6858000">
                <a:moveTo>
                  <a:pt x="0" y="0"/>
                </a:moveTo>
                <a:lnTo>
                  <a:pt x="6272052" y="0"/>
                </a:lnTo>
                <a:arcTo wR="26991" hR="26991" stAng="16200000" swAng="5400000"/>
                <a:lnTo>
                  <a:pt x="6299042" y="6831009"/>
                </a:lnTo>
                <a:arcTo wR="26991" hR="26991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9" name="Shape 7"/>
          <p:cNvSpPr/>
          <p:nvPr/>
        </p:nvSpPr>
        <p:spPr>
          <a:xfrm>
            <a:off x="6146646" y="431800"/>
            <a:ext cx="2743131" cy="2997200"/>
          </a:xfrm>
          <a:prstGeom prst="rect">
            <a:avLst/>
          </a:prstGeom>
          <a:solidFill>
            <a:srgbClr val="FAF7F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5" y="889000"/>
            <a:ext cx="1828754" cy="2082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889778" y="431800"/>
            <a:ext cx="2743131" cy="2997200"/>
          </a:xfrm>
          <a:custGeom>
            <a:avLst/>
            <a:gdLst/>
            <a:ahLst/>
            <a:cxnLst/>
            <a:rect l="l" t="t" r="r" b="b"/>
            <a:pathLst>
              <a:path w="2743131" h="2997200">
                <a:moveTo>
                  <a:pt x="0" y="0"/>
                </a:moveTo>
                <a:lnTo>
                  <a:pt x="2716141" y="0"/>
                </a:lnTo>
                <a:arcTo wR="26991" hR="26991" stAng="16200000" swAng="5400000"/>
                <a:lnTo>
                  <a:pt x="2743131" y="2997200"/>
                </a:lnTo>
                <a:lnTo>
                  <a:pt x="0" y="2997200"/>
                </a:lnTo>
                <a:lnTo>
                  <a:pt x="0" y="0"/>
                </a:lnTo>
                <a:close/>
              </a:path>
            </a:pathLst>
          </a:custGeom>
          <a:solidFill>
            <a:srgbClr val="FAF7F2"/>
          </a:solidFill>
          <a:ln/>
        </p:spPr>
      </p:sp>
      <p:sp>
        <p:nvSpPr>
          <p:cNvPr id="12" name="Text 9"/>
          <p:cNvSpPr/>
          <p:nvPr/>
        </p:nvSpPr>
        <p:spPr>
          <a:xfrm>
            <a:off x="9346966" y="1724025"/>
            <a:ext cx="182875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56757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LPU CAMPUS WAYFINDER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46646" y="3429000"/>
            <a:ext cx="2743131" cy="29972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4" name="Text 11"/>
          <p:cNvSpPr/>
          <p:nvPr/>
        </p:nvSpPr>
        <p:spPr>
          <a:xfrm>
            <a:off x="6603835" y="4721225"/>
            <a:ext cx="182875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6E55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SEARCH · FILTER · ARRIVE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889778" y="3429000"/>
            <a:ext cx="2743131" cy="2997200"/>
          </a:xfrm>
          <a:custGeom>
            <a:avLst/>
            <a:gdLst/>
            <a:ahLst/>
            <a:cxnLst/>
            <a:rect l="l" t="t" r="r" b="b"/>
            <a:pathLst>
              <a:path w="2743131" h="2997200">
                <a:moveTo>
                  <a:pt x="0" y="0"/>
                </a:moveTo>
                <a:lnTo>
                  <a:pt x="2743131" y="0"/>
                </a:lnTo>
                <a:lnTo>
                  <a:pt x="2743131" y="2970209"/>
                </a:lnTo>
                <a:arcTo wR="26991" hR="26991" stAng="0" swAng="5400000"/>
                <a:lnTo>
                  <a:pt x="0" y="2997200"/>
                </a:lnTo>
                <a:lnTo>
                  <a:pt x="0" y="0"/>
                </a:lnTo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16" name="Shape 13"/>
          <p:cNvSpPr/>
          <p:nvPr/>
        </p:nvSpPr>
        <p:spPr>
          <a:xfrm>
            <a:off x="8883428" y="431800"/>
            <a:ext cx="12700" cy="2997200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6646" y="3422650"/>
            <a:ext cx="2743131" cy="12700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18" name="Shape 15"/>
          <p:cNvSpPr/>
          <p:nvPr/>
        </p:nvSpPr>
        <p:spPr>
          <a:xfrm>
            <a:off x="8883428" y="3429000"/>
            <a:ext cx="12700" cy="2997200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19" name="Shape 16"/>
          <p:cNvSpPr/>
          <p:nvPr/>
        </p:nvSpPr>
        <p:spPr>
          <a:xfrm>
            <a:off x="8889778" y="3422650"/>
            <a:ext cx="2743131" cy="12700"/>
          </a:xfrm>
          <a:prstGeom prst="rect">
            <a:avLst/>
          </a:prstGeom>
          <a:solidFill>
            <a:srgbClr val="D9D3C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77" y="736600"/>
            <a:ext cx="1097252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TENSION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377" y="1028700"/>
            <a:ext cx="10362941" cy="252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7200" kern="0" spc="-288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Finding one place should not feel like a </a:t>
            </a:r>
            <a:r>
              <a:rPr lang="en-US" sz="7200" i="1" kern="0" spc="-288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scavenger hunt.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377" y="3820517"/>
            <a:ext cx="1295368" cy="31651"/>
          </a:xfrm>
          <a:prstGeom prst="roundRect">
            <a:avLst>
              <a:gd name="adj" fmla="val 49998"/>
            </a:avLst>
          </a:prstGeom>
          <a:solidFill>
            <a:srgbClr val="5E1822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4326930"/>
            <a:ext cx="325111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Orient quickly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377" y="4736505"/>
            <a:ext cx="3251119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Students, visitors, and first-time attendees need a fast way to understand where they are going.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70288" y="4326930"/>
            <a:ext cx="325111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Make knowledge visible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70288" y="4736505"/>
            <a:ext cx="3251119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prototype turns scattered location knowledge into one searchable visual layer.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26199" y="4098330"/>
            <a:ext cx="3251119" cy="2129135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0" name="Text 8"/>
          <p:cNvSpPr/>
          <p:nvPr/>
        </p:nvSpPr>
        <p:spPr>
          <a:xfrm>
            <a:off x="8280193" y="4352330"/>
            <a:ext cx="335271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LEAD WITH THE 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80193" y="4644430"/>
            <a:ext cx="274313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Not the feature list.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80193" y="5054005"/>
            <a:ext cx="2743131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the uncertainty, then show the calm interaction that resolves 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custGeom>
            <a:avLst/>
            <a:gdLst/>
            <a:ahLst/>
            <a:cxnLst/>
            <a:rect l="l" t="t" r="r" b="b"/>
            <a:pathLst>
              <a:path w="4876678" h="6858000">
                <a:moveTo>
                  <a:pt x="26991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26991" y="6858000"/>
                </a:lnTo>
                <a:arcTo wR="26991" hR="26991" stAng="5400000" swAng="5400000"/>
                <a:lnTo>
                  <a:pt x="0" y="26991"/>
                </a:lnTo>
                <a:arcTo wR="26991" hR="26991" stAng="10800000" swAng="5400000"/>
                <a:close/>
              </a:path>
            </a:pathLst>
          </a:cu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877913"/>
            <a:ext cx="449568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 / THE MOMENT BEFORE MOVEMENT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2170013"/>
            <a:ext cx="388610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Every campus visit starts with a moment of </a:t>
            </a:r>
            <a:r>
              <a:rPr lang="en-US" sz="3800" i="1" kern="0" spc="-95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uncertainty.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4316313"/>
            <a:ext cx="388610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product meets different needs with the same calm, visual interaction.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76678" y="0"/>
            <a:ext cx="7315017" cy="6858000"/>
          </a:xfrm>
          <a:custGeom>
            <a:avLst/>
            <a:gdLst/>
            <a:ahLst/>
            <a:cxnLst/>
            <a:rect l="l" t="t" r="r" b="b"/>
            <a:pathLst>
              <a:path w="7315017" h="6858000">
                <a:moveTo>
                  <a:pt x="0" y="0"/>
                </a:moveTo>
                <a:lnTo>
                  <a:pt x="7288026" y="0"/>
                </a:lnTo>
                <a:arcTo wR="26991" hR="26991" stAng="16200000" swAng="5400000"/>
                <a:lnTo>
                  <a:pt x="7315017" y="6831009"/>
                </a:lnTo>
                <a:arcTo wR="26991" hR="26991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AF7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72" y="1692374"/>
            <a:ext cx="6476838" cy="34731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40559" y="1997866"/>
            <a:ext cx="2993313" cy="17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350" kern="0" spc="-34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Campus Map Signal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35115" y="3713087"/>
            <a:ext cx="1458336" cy="345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350" kern="0" spc="-34" dirty="0">
                <a:solidFill>
                  <a:srgbClr val="1F1B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Student Block Finder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35115" y="4150544"/>
            <a:ext cx="1458336" cy="435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Locate classroom quickly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127" y="3182052"/>
            <a:ext cx="323835" cy="3238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7761" y="4035715"/>
            <a:ext cx="1458337" cy="345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350" kern="0" spc="-34" dirty="0">
                <a:solidFill>
                  <a:srgbClr val="1F1B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Visitor Gate Guide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617761" y="4473173"/>
            <a:ext cx="1458337" cy="217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gate or office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773" y="3402265"/>
            <a:ext cx="323836" cy="3238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00408" y="3700133"/>
            <a:ext cx="1458337" cy="345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350" kern="0" spc="-34" dirty="0">
                <a:solidFill>
                  <a:srgbClr val="1F1B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Newcomer Nearby Info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800408" y="4137590"/>
            <a:ext cx="1458337" cy="435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amenities around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420" y="3156144"/>
            <a:ext cx="323835" cy="323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20502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 / THE INTERACTION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612602"/>
            <a:ext cx="1097252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One map. </a:t>
            </a:r>
            <a:r>
              <a:rPr lang="en-US" sz="3800" i="1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Three moves.</a:t>
            </a:r>
            <a:r>
              <a:rPr lang="en-US" sz="3800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 A clearer campus.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311102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the time between “Where is it?” and “There.”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4148931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D5CFC5"/>
          </a:solidFill>
          <a:ln/>
        </p:spPr>
      </p:sp>
      <p:sp>
        <p:nvSpPr>
          <p:cNvPr id="6" name="Shape 4"/>
          <p:cNvSpPr/>
          <p:nvPr/>
        </p:nvSpPr>
        <p:spPr>
          <a:xfrm>
            <a:off x="3270962" y="3717131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7" name="Shape 5"/>
          <p:cNvSpPr/>
          <p:nvPr/>
        </p:nvSpPr>
        <p:spPr>
          <a:xfrm>
            <a:off x="3204289" y="4067969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8" name="Text 6"/>
          <p:cNvSpPr/>
          <p:nvPr/>
        </p:nvSpPr>
        <p:spPr>
          <a:xfrm>
            <a:off x="825479" y="2811264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1F1B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Search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5479" y="3194745"/>
            <a:ext cx="491953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a block, hostel, gate, or venue.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1560" y="4148931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11" name="Shape 9"/>
          <p:cNvSpPr/>
          <p:nvPr/>
        </p:nvSpPr>
        <p:spPr>
          <a:xfrm>
            <a:off x="6014887" y="4067969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12" name="Text 10"/>
          <p:cNvSpPr/>
          <p:nvPr/>
        </p:nvSpPr>
        <p:spPr>
          <a:xfrm>
            <a:off x="3636078" y="4796631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1F1B18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Filter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6078" y="5180112"/>
            <a:ext cx="491953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the campus by category.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92159" y="3717131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5485" y="4067969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676" y="2811264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5E182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Select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676" y="3194745"/>
            <a:ext cx="491953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Fly straight to the place with a focused popup.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custGeom>
            <a:avLst/>
            <a:gdLst/>
            <a:ahLst/>
            <a:cxnLst/>
            <a:rect l="l" t="t" r="r" b="b"/>
            <a:pathLst>
              <a:path w="5283068" h="6858000">
                <a:moveTo>
                  <a:pt x="26991" y="0"/>
                </a:moveTo>
                <a:lnTo>
                  <a:pt x="5283068" y="0"/>
                </a:lnTo>
                <a:lnTo>
                  <a:pt x="5283068" y="6858000"/>
                </a:lnTo>
                <a:lnTo>
                  <a:pt x="26991" y="6858000"/>
                </a:lnTo>
                <a:arcTo wR="26991" hR="26991" stAng="5400000" swAng="5400000"/>
                <a:lnTo>
                  <a:pt x="0" y="26991"/>
                </a:lnTo>
                <a:arcTo wR="26991" hR="26991" stAng="10800000" swAng="5400000"/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513854"/>
            <a:ext cx="49274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 / THE DEMO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3387" y="805954"/>
            <a:ext cx="4317892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demo is the </a:t>
            </a:r>
            <a:r>
              <a:rPr lang="en-US" sz="3800" i="1" kern="0" spc="-95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product story.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3387" y="1987054"/>
            <a:ext cx="431789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judge. One destination. One clear next step.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3387" y="2846090"/>
            <a:ext cx="1424845" cy="31651"/>
          </a:xfrm>
          <a:prstGeom prst="roundRect">
            <a:avLst>
              <a:gd name="adj" fmla="val 49998"/>
            </a:avLst>
          </a:prstGeom>
          <a:solidFill>
            <a:srgbClr val="F1EEEA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3123902"/>
            <a:ext cx="4317892" cy="261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a judge searching “Block 32”.</a:t>
            </a:r>
            <a:endParaRPr lang="en-US" sz="1700" dirty="0"/>
          </a:p>
          <a:p>
            <a:pPr marL="345440" indent="-345440" algn="l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the map fly to the selected building.</a:t>
            </a:r>
            <a:endParaRPr lang="en-US" sz="1700" dirty="0"/>
          </a:p>
          <a:p>
            <a:pPr marL="345440" indent="-345440" algn="l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sidebar card, marker, and popup focused on the same destination.</a:t>
            </a:r>
            <a:endParaRPr lang="en-US" sz="1700" dirty="0"/>
          </a:p>
          <a:p>
            <a:pPr marL="345440" indent="-345440" algn="l">
              <a:lnSpc>
                <a:spcPct val="118000"/>
              </a:lnSpc>
              <a:buSzPct val="100000"/>
              <a:buChar char="•"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 with the user seeing one clear next step instead of a crowded map.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3387" y="5931396"/>
            <a:ext cx="431789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MAKE THIS THE FIRST MAP-LED WOW MOMENT.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83068" y="0"/>
            <a:ext cx="6908627" cy="6858000"/>
          </a:xfrm>
          <a:custGeom>
            <a:avLst/>
            <a:gdLst/>
            <a:ahLst/>
            <a:cxnLst/>
            <a:rect l="l" t="t" r="r" b="b"/>
            <a:pathLst>
              <a:path w="6908627" h="6858000">
                <a:moveTo>
                  <a:pt x="0" y="0"/>
                </a:moveTo>
                <a:lnTo>
                  <a:pt x="6881636" y="0"/>
                </a:lnTo>
                <a:arcTo wR="26991" hR="26991" stAng="16200000" swAng="5400000"/>
                <a:lnTo>
                  <a:pt x="6908627" y="6831009"/>
                </a:lnTo>
                <a:arcTo wR="26991" hR="26991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10" name="Shape 8"/>
          <p:cNvSpPr/>
          <p:nvPr/>
        </p:nvSpPr>
        <p:spPr>
          <a:xfrm>
            <a:off x="5511662" y="330200"/>
            <a:ext cx="1851574" cy="619760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5714857" y="1841996"/>
            <a:ext cx="144518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5E1822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CAMPUS 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4857" y="2448421"/>
            <a:ext cx="205476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6E55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 32  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714857" y="2948583"/>
            <a:ext cx="1445184" cy="2067322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4" name="Text 12"/>
          <p:cNvSpPr/>
          <p:nvPr/>
        </p:nvSpPr>
        <p:spPr>
          <a:xfrm>
            <a:off x="5841854" y="3100983"/>
            <a:ext cx="119119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Block 32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41854" y="3510558"/>
            <a:ext cx="1191191" cy="1352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Block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Selected destination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63236" y="330200"/>
            <a:ext cx="4320472" cy="6197600"/>
          </a:xfrm>
          <a:custGeom>
            <a:avLst/>
            <a:gdLst/>
            <a:ahLst/>
            <a:cxnLst/>
            <a:rect l="l" t="t" r="r" b="b"/>
            <a:pathLst>
              <a:path w="4320472" h="6197600">
                <a:moveTo>
                  <a:pt x="0" y="0"/>
                </a:moveTo>
                <a:lnTo>
                  <a:pt x="4293481" y="0"/>
                </a:lnTo>
                <a:arcTo wR="26991" hR="26991" stAng="16200000" swAng="5400000"/>
                <a:lnTo>
                  <a:pt x="4320472" y="6170609"/>
                </a:lnTo>
                <a:arcTo wR="26991" hR="26991" stAng="0" swAng="5400000"/>
                <a:lnTo>
                  <a:pt x="0" y="6197600"/>
                </a:lnTo>
                <a:lnTo>
                  <a:pt x="0" y="0"/>
                </a:lnTo>
                <a:close/>
              </a:path>
            </a:pathLst>
          </a:custGeom>
          <a:solidFill>
            <a:srgbClr val="FAF7F2"/>
          </a:solidFill>
          <a:ln/>
        </p:spPr>
      </p:sp>
      <p:sp>
        <p:nvSpPr>
          <p:cNvPr id="17" name="Text 15"/>
          <p:cNvSpPr/>
          <p:nvPr/>
        </p:nvSpPr>
        <p:spPr>
          <a:xfrm>
            <a:off x="7668028" y="1976239"/>
            <a:ext cx="3710887" cy="504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5E18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668028" y="2674838"/>
            <a:ext cx="3710887" cy="10208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19" name="Text 17"/>
          <p:cNvSpPr/>
          <p:nvPr/>
        </p:nvSpPr>
        <p:spPr>
          <a:xfrm>
            <a:off x="7896623" y="2827238"/>
            <a:ext cx="325369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E0859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Block 32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96623" y="3236813"/>
            <a:ext cx="3863283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Block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68028" y="4064000"/>
            <a:ext cx="371088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6E55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Selected destination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3236" y="4575175"/>
            <a:ext cx="4320472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6E55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 focused on one clear next step.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56886" y="330200"/>
            <a:ext cx="12700" cy="6197600"/>
          </a:xfrm>
          <a:prstGeom prst="rect">
            <a:avLst/>
          </a:prstGeom>
          <a:solidFill>
            <a:srgbClr val="D9D3C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40458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 / INTERFACE ANATOMY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732558"/>
            <a:ext cx="1097252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One interface keeps the right things </a:t>
            </a:r>
            <a:r>
              <a:rPr lang="en-US" sz="3800" i="1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in view.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431058"/>
            <a:ext cx="3454314" cy="2230735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2685058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CHOOSE · LEFT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3578" y="2977158"/>
            <a:ext cx="29463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Sidebar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3578" y="3488333"/>
            <a:ext cx="294632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Search, filters, and readable place summaries keep the decision close at hand.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8691" y="2431058"/>
            <a:ext cx="3454314" cy="2230735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2685058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UNDERSTAND · RIGHT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22684" y="2977158"/>
            <a:ext cx="29463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Map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22684" y="3488333"/>
            <a:ext cx="294632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Spatial context without asking the user to decode the whole campus.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2431058"/>
            <a:ext cx="3454314" cy="2230735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13" name="Text 11"/>
          <p:cNvSpPr/>
          <p:nvPr/>
        </p:nvSpPr>
        <p:spPr>
          <a:xfrm>
            <a:off x="8381790" y="2685058"/>
            <a:ext cx="355591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READ AT A GLANCE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81790" y="2977158"/>
            <a:ext cx="29463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Legend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81790" y="3488333"/>
            <a:ext cx="294632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Marker colors explain categories before the user needs to read every label.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4907855"/>
            <a:ext cx="1371566" cy="31651"/>
          </a:xfrm>
          <a:prstGeom prst="roundRect">
            <a:avLst>
              <a:gd name="adj" fmla="val 49998"/>
            </a:avLst>
          </a:prstGeom>
          <a:solidFill>
            <a:srgbClr val="5E1822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5185668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CLEAR VISUAL HIERARCHY: CHOOSE ON THE LEFT, UNDERSTAND ON THE RIGHT.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26991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26991" y="6858000"/>
                </a:lnTo>
                <a:arcTo wR="26991" hR="26991" stAng="5400000" swAng="5400000"/>
                <a:lnTo>
                  <a:pt x="0" y="26991"/>
                </a:lnTo>
                <a:arcTo wR="26991" hR="26991" stAng="10800000" swAng="5400000"/>
                <a:close/>
              </a:path>
            </a:pathLst>
          </a:custGeom>
          <a:solidFill>
            <a:srgbClr val="FA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496020"/>
            <a:ext cx="411469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 / PROTOTYPE 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88120"/>
            <a:ext cx="3505112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The prototype turns campus complexity into a usable </a:t>
            </a:r>
            <a:r>
              <a:rPr lang="en-US" sz="3800" i="1" kern="0" spc="-95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index.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09585" y="4417020"/>
            <a:ext cx="350511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interaction keeps the list and the map aligned around the same destination.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73483" y="381000"/>
            <a:ext cx="3454314" cy="2535535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7" name="Text 5"/>
          <p:cNvSpPr/>
          <p:nvPr/>
        </p:nvSpPr>
        <p:spPr>
          <a:xfrm>
            <a:off x="4902077" y="609600"/>
            <a:ext cx="36067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13 PLOTTED LOCATIONS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02077" y="901700"/>
            <a:ext cx="299712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One campus index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02077" y="1768475"/>
            <a:ext cx="299712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Searchable places become visible, named, and selectable.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7797" y="381000"/>
            <a:ext cx="3454314" cy="2535535"/>
          </a:xfrm>
          <a:custGeom>
            <a:avLst/>
            <a:gdLst/>
            <a:ahLst/>
            <a:cxnLst/>
            <a:rect l="l" t="t" r="r" b="b"/>
            <a:pathLst>
              <a:path w="3454314" h="2535535">
                <a:moveTo>
                  <a:pt x="0" y="0"/>
                </a:moveTo>
                <a:lnTo>
                  <a:pt x="3427323" y="0"/>
                </a:lnTo>
                <a:arcTo wR="26991" hR="26991" stAng="16200000" swAng="5400000"/>
                <a:lnTo>
                  <a:pt x="3454314" y="2535535"/>
                </a:lnTo>
                <a:lnTo>
                  <a:pt x="0" y="2535535"/>
                </a:lnTo>
                <a:lnTo>
                  <a:pt x="0" y="0"/>
                </a:lnTo>
                <a:close/>
              </a:path>
            </a:pathLst>
          </a:custGeom>
          <a:solidFill>
            <a:srgbClr val="7A1F2B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609600"/>
            <a:ext cx="36067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 CATEGORIES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56391" y="901700"/>
            <a:ext cx="299712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One shared definition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356391" y="1768475"/>
            <a:ext cx="2997125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 filters update both the list and map markers together.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02077" y="3145135"/>
            <a:ext cx="36067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SIDEBAR CARDS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2077" y="3437235"/>
            <a:ext cx="299712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Readable summaries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02077" y="4304010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location carries a name and one-line description.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56391" y="3322935"/>
            <a:ext cx="36067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FOCUSED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6391" y="3615035"/>
            <a:ext cx="299712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0" spc="-70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Quick decisions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56391" y="4126210"/>
            <a:ext cx="2997125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1B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results stay limited to the most relevant matches.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447" y="381000"/>
            <a:ext cx="12700" cy="2535535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3483" y="2910185"/>
            <a:ext cx="3454314" cy="12700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1447" y="2916535"/>
            <a:ext cx="12700" cy="2229048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23" name="Shape 21"/>
          <p:cNvSpPr/>
          <p:nvPr/>
        </p:nvSpPr>
        <p:spPr>
          <a:xfrm>
            <a:off x="8127797" y="2910185"/>
            <a:ext cx="3454314" cy="12700"/>
          </a:xfrm>
          <a:prstGeom prst="rect">
            <a:avLst/>
          </a:prstGeom>
          <a:solidFill>
            <a:srgbClr val="D9D3C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03127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7A1F2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06 / CATEGORY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95227"/>
            <a:ext cx="1097252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Six categories make the map feel </a:t>
            </a:r>
            <a:r>
              <a:rPr lang="en-US" sz="3800" i="1" kern="0" spc="-95" dirty="0">
                <a:solidFill>
                  <a:srgbClr val="7A1F2B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legible.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2193727"/>
            <a:ext cx="3581310" cy="1428948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396927"/>
            <a:ext cx="31749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Academic Block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80" y="2806502"/>
            <a:ext cx="317492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spaces and lecture buildings.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43291" y="2193727"/>
            <a:ext cx="3505112" cy="1428948"/>
          </a:xfrm>
          <a:prstGeom prst="rect">
            <a:avLst/>
          </a:prstGeom>
          <a:solidFill>
            <a:srgbClr val="D9D3CC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396927"/>
            <a:ext cx="309872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Hostel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6486" y="2806502"/>
            <a:ext cx="370830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Residential destinations.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00800" y="2193727"/>
            <a:ext cx="3581310" cy="1428948"/>
          </a:xfrm>
          <a:prstGeom prst="rect">
            <a:avLst/>
          </a:prstGeom>
          <a:solidFill>
            <a:srgbClr val="F1EEEA"/>
          </a:solidFill>
          <a:ln/>
        </p:spPr>
      </p:sp>
      <p:sp>
        <p:nvSpPr>
          <p:cNvPr id="11" name="Text 9"/>
          <p:cNvSpPr/>
          <p:nvPr/>
        </p:nvSpPr>
        <p:spPr>
          <a:xfrm>
            <a:off x="8203995" y="2396927"/>
            <a:ext cx="31749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Food &amp; Dining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03995" y="2806502"/>
            <a:ext cx="378450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5E18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Everyday stops.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3775075"/>
            <a:ext cx="3581310" cy="14289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80" y="3978275"/>
            <a:ext cx="31749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000000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Sports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780" y="4387850"/>
            <a:ext cx="3784505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5E18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spaces.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43291" y="3775075"/>
            <a:ext cx="3505112" cy="1428948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46486" y="3978275"/>
            <a:ext cx="309872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Admin / Gate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46486" y="4387850"/>
            <a:ext cx="370830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Arrival and official tasks.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00800" y="3775075"/>
            <a:ext cx="3581310" cy="1428948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03995" y="3978275"/>
            <a:ext cx="31749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Other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3995" y="4387850"/>
            <a:ext cx="3174921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Venues such as the Open Air Theatre.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9585" y="5397698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COLOR, LABEL, AND MARKER GIVE THE MAP ONE SHARED VISUAL KEY.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730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E0859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07 / SEARCH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459409"/>
            <a:ext cx="1097252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Search turns a campus into a </a:t>
            </a:r>
            <a:r>
              <a:rPr lang="en-US" sz="3800" i="1" kern="0" spc="-95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direct answer.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2157909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story on the search-to-destination loop, not implementation detail.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4302224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D5CFC5"/>
          </a:solidFill>
          <a:ln/>
        </p:spPr>
      </p:sp>
      <p:sp>
        <p:nvSpPr>
          <p:cNvPr id="6" name="Shape 4"/>
          <p:cNvSpPr/>
          <p:nvPr/>
        </p:nvSpPr>
        <p:spPr>
          <a:xfrm>
            <a:off x="3270962" y="3870424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7" name="Shape 5"/>
          <p:cNvSpPr/>
          <p:nvPr/>
        </p:nvSpPr>
        <p:spPr>
          <a:xfrm>
            <a:off x="3204289" y="4221262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8" name="Text 6"/>
          <p:cNvSpPr/>
          <p:nvPr/>
        </p:nvSpPr>
        <p:spPr>
          <a:xfrm>
            <a:off x="825479" y="2658070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Type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5479" y="3041551"/>
            <a:ext cx="491953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a place name in the search field.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1560" y="4302224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11" name="Shape 9"/>
          <p:cNvSpPr/>
          <p:nvPr/>
        </p:nvSpPr>
        <p:spPr>
          <a:xfrm>
            <a:off x="6014887" y="4221262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12" name="Text 10"/>
          <p:cNvSpPr/>
          <p:nvPr/>
        </p:nvSpPr>
        <p:spPr>
          <a:xfrm>
            <a:off x="3636078" y="4949924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FAF7F2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Match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6078" y="5333405"/>
            <a:ext cx="4919539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the most relevant results in a compact 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92159" y="3870424"/>
            <a:ext cx="28574" cy="431800"/>
          </a:xfrm>
          <a:prstGeom prst="roundRect">
            <a:avLst>
              <a:gd name="adj" fmla="val 40000"/>
            </a:avLst>
          </a:prstGeom>
          <a:solidFill>
            <a:srgbClr val="D5CFC5"/>
          </a:solidFill>
          <a:ln/>
        </p:spPr>
      </p:sp>
      <p:sp>
        <p:nvSpPr>
          <p:cNvPr id="15" name="Shape 13"/>
          <p:cNvSpPr/>
          <p:nvPr/>
        </p:nvSpPr>
        <p:spPr>
          <a:xfrm>
            <a:off x="8825485" y="4221262"/>
            <a:ext cx="161921" cy="161925"/>
          </a:xfrm>
          <a:prstGeom prst="ellipse">
            <a:avLst/>
          </a:prstGeom>
          <a:solidFill>
            <a:srgbClr val="FAF7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676" y="2658070"/>
            <a:ext cx="4919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kern="0" spc="-50" dirty="0">
                <a:solidFill>
                  <a:srgbClr val="E08591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Go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676" y="3041551"/>
            <a:ext cx="491953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7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one result to move the map and open its context.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7971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PROMISE · FROM SEARCH TO ARRIVAL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671810"/>
            <a:ext cx="1097252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0" spc="-95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Less time searching. More time </a:t>
            </a:r>
            <a:r>
              <a:rPr lang="en-US" sz="3800" i="1" kern="0" spc="-95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getting there.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585" y="1370310"/>
            <a:ext cx="5410065" cy="27084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548110"/>
            <a:ext cx="56640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SEE THE WHOLE CAMPUS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7380" y="1881485"/>
            <a:ext cx="1684791" cy="843062"/>
          </a:xfrm>
          <a:custGeom>
            <a:avLst/>
            <a:gdLst/>
            <a:ahLst/>
            <a:cxnLst/>
            <a:rect l="l" t="t" r="r" b="b"/>
            <a:pathLst>
              <a:path w="1684791" h="843062">
                <a:moveTo>
                  <a:pt x="9525" y="0"/>
                </a:moveTo>
                <a:lnTo>
                  <a:pt x="1684791" y="0"/>
                </a:lnTo>
                <a:lnTo>
                  <a:pt x="1684791" y="843062"/>
                </a:lnTo>
                <a:lnTo>
                  <a:pt x="0" y="843062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7A1F2B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1983085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ACADEMIC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8978" y="2316460"/>
            <a:ext cx="209118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73769" y="1983085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73769" y="2316460"/>
            <a:ext cx="209118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56963" y="1881485"/>
            <a:ext cx="1684891" cy="843062"/>
          </a:xfrm>
          <a:custGeom>
            <a:avLst/>
            <a:gdLst/>
            <a:ahLst/>
            <a:cxnLst/>
            <a:rect l="l" t="t" r="r" b="b"/>
            <a:pathLst>
              <a:path w="1684891" h="843062">
                <a:moveTo>
                  <a:pt x="0" y="0"/>
                </a:moveTo>
                <a:lnTo>
                  <a:pt x="1675366" y="0"/>
                </a:lnTo>
                <a:arcTo wR="9525" hR="9525" stAng="16200000" swAng="5400000"/>
                <a:lnTo>
                  <a:pt x="1684891" y="843062"/>
                </a:lnTo>
                <a:lnTo>
                  <a:pt x="0" y="843062"/>
                </a:lnTo>
                <a:lnTo>
                  <a:pt x="0" y="0"/>
                </a:lnTo>
                <a:close/>
              </a:path>
            </a:pathLst>
          </a:custGeom>
          <a:solidFill>
            <a:srgbClr val="7A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4258561" y="1983085"/>
            <a:ext cx="209128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HOSTEL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8561" y="2316460"/>
            <a:ext cx="209128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8978" y="2826147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ADMIN / GATE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8978" y="3159522"/>
            <a:ext cx="209118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472172" y="2724547"/>
            <a:ext cx="1684791" cy="843062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7" name="Text 15"/>
          <p:cNvSpPr/>
          <p:nvPr/>
        </p:nvSpPr>
        <p:spPr>
          <a:xfrm>
            <a:off x="2573769" y="2826147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3769" y="3159522"/>
            <a:ext cx="209118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58561" y="2826147"/>
            <a:ext cx="209128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8561" y="3159522"/>
            <a:ext cx="209128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7380" y="3694609"/>
            <a:ext cx="56640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START BROAD. KEEP THE CAMPUS IN 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046" y="1370310"/>
            <a:ext cx="5410065" cy="27084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49841" y="1548110"/>
            <a:ext cx="566405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GO STRAIGHT TO WHAT MATTERS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49841" y="1881485"/>
            <a:ext cx="1684791" cy="843062"/>
          </a:xfrm>
          <a:custGeom>
            <a:avLst/>
            <a:gdLst/>
            <a:ahLst/>
            <a:cxnLst/>
            <a:rect l="l" t="t" r="r" b="b"/>
            <a:pathLst>
              <a:path w="1684791" h="843062">
                <a:moveTo>
                  <a:pt x="9525" y="0"/>
                </a:moveTo>
                <a:lnTo>
                  <a:pt x="1684791" y="0"/>
                </a:lnTo>
                <a:lnTo>
                  <a:pt x="1684791" y="843062"/>
                </a:lnTo>
                <a:lnTo>
                  <a:pt x="0" y="843062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5E1822"/>
          </a:solidFill>
          <a:ln/>
        </p:spPr>
      </p:sp>
      <p:sp>
        <p:nvSpPr>
          <p:cNvPr id="25" name="Text 23"/>
          <p:cNvSpPr/>
          <p:nvPr/>
        </p:nvSpPr>
        <p:spPr>
          <a:xfrm>
            <a:off x="6451439" y="1983085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ACADEMIC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51439" y="2316460"/>
            <a:ext cx="2091181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36230" y="1983085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19424" y="1881485"/>
            <a:ext cx="1684891" cy="843062"/>
          </a:xfrm>
          <a:custGeom>
            <a:avLst/>
            <a:gdLst/>
            <a:ahLst/>
            <a:cxnLst/>
            <a:rect l="l" t="t" r="r" b="b"/>
            <a:pathLst>
              <a:path w="1684891" h="843062">
                <a:moveTo>
                  <a:pt x="0" y="0"/>
                </a:moveTo>
                <a:lnTo>
                  <a:pt x="1675366" y="0"/>
                </a:lnTo>
                <a:arcTo wR="9525" hR="9525" stAng="16200000" swAng="5400000"/>
                <a:lnTo>
                  <a:pt x="1684891" y="843062"/>
                </a:lnTo>
                <a:lnTo>
                  <a:pt x="0" y="843062"/>
                </a:lnTo>
                <a:lnTo>
                  <a:pt x="0" y="0"/>
                </a:lnTo>
                <a:close/>
              </a:path>
            </a:pathLst>
          </a:custGeom>
          <a:solidFill>
            <a:srgbClr val="7A1F2B"/>
          </a:solidFill>
          <a:ln/>
        </p:spPr>
      </p:sp>
      <p:sp>
        <p:nvSpPr>
          <p:cNvPr id="29" name="Text 27"/>
          <p:cNvSpPr/>
          <p:nvPr/>
        </p:nvSpPr>
        <p:spPr>
          <a:xfrm>
            <a:off x="9821021" y="1983085"/>
            <a:ext cx="209128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HOSTEL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51439" y="2826147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ADMIN / GATE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34633" y="2724547"/>
            <a:ext cx="1684791" cy="409575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2" name="Text 30"/>
          <p:cNvSpPr/>
          <p:nvPr/>
        </p:nvSpPr>
        <p:spPr>
          <a:xfrm>
            <a:off x="8136230" y="2826147"/>
            <a:ext cx="209118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21021" y="2826147"/>
            <a:ext cx="209128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OTHER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49841" y="3261122"/>
            <a:ext cx="505447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FILTER ONCE. THE MAP AND MARKERS MOVE WITH YOU.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9585" y="4272459"/>
            <a:ext cx="2514537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Search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 a campus question into a place.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81310" y="4272459"/>
            <a:ext cx="2285943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Filter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the noise without losing the map.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24442" y="4272459"/>
            <a:ext cx="2285943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Go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next step visible from search to arrival.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067573" y="4272459"/>
            <a:ext cx="2514537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One clear answer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visual language keeps every destination easy to recognize.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9585" y="5548015"/>
            <a:ext cx="10972526" cy="1006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1500"/>
              </a:spcAft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 CLEARER CAMPUS STARTS WITH A CLEARER NEXT MOVE.</a:t>
            </a:r>
            <a:endParaRPr lang="en-US" sz="1300" dirty="0"/>
          </a:p>
          <a:p>
            <a:pPr marL="0" indent="0" algn="l">
              <a:lnSpc>
                <a:spcPct val="104000"/>
              </a:lnSpc>
              <a:spcAft>
                <a:spcPts val="1500"/>
              </a:spcAft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LOVELY PROFESSIONAL UNIVERSITY, PHAGWARA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465822" y="1881485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1" name="Shape 39"/>
          <p:cNvSpPr/>
          <p:nvPr/>
        </p:nvSpPr>
        <p:spPr>
          <a:xfrm>
            <a:off x="4150613" y="1881485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87380" y="2718197"/>
            <a:ext cx="16847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3" name="Shape 41"/>
          <p:cNvSpPr/>
          <p:nvPr/>
        </p:nvSpPr>
        <p:spPr>
          <a:xfrm>
            <a:off x="2465822" y="2724547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4" name="Shape 42"/>
          <p:cNvSpPr/>
          <p:nvPr/>
        </p:nvSpPr>
        <p:spPr>
          <a:xfrm>
            <a:off x="2472172" y="2718197"/>
            <a:ext cx="16847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5" name="Shape 43"/>
          <p:cNvSpPr/>
          <p:nvPr/>
        </p:nvSpPr>
        <p:spPr>
          <a:xfrm>
            <a:off x="4150613" y="2724547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6" name="Shape 44"/>
          <p:cNvSpPr/>
          <p:nvPr/>
        </p:nvSpPr>
        <p:spPr>
          <a:xfrm>
            <a:off x="4156963" y="2718197"/>
            <a:ext cx="16848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7" name="Shape 45"/>
          <p:cNvSpPr/>
          <p:nvPr/>
        </p:nvSpPr>
        <p:spPr>
          <a:xfrm>
            <a:off x="8028283" y="1881485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8" name="Shape 46"/>
          <p:cNvSpPr/>
          <p:nvPr/>
        </p:nvSpPr>
        <p:spPr>
          <a:xfrm>
            <a:off x="9713074" y="1881485"/>
            <a:ext cx="12700" cy="843062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49" name="Shape 47"/>
          <p:cNvSpPr/>
          <p:nvPr/>
        </p:nvSpPr>
        <p:spPr>
          <a:xfrm>
            <a:off x="6349841" y="2718197"/>
            <a:ext cx="16847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0" name="Shape 48"/>
          <p:cNvSpPr/>
          <p:nvPr/>
        </p:nvSpPr>
        <p:spPr>
          <a:xfrm>
            <a:off x="8028283" y="2724547"/>
            <a:ext cx="12700" cy="409575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1" name="Shape 49"/>
          <p:cNvSpPr/>
          <p:nvPr/>
        </p:nvSpPr>
        <p:spPr>
          <a:xfrm>
            <a:off x="8034633" y="2718197"/>
            <a:ext cx="16847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2" name="Shape 50"/>
          <p:cNvSpPr/>
          <p:nvPr/>
        </p:nvSpPr>
        <p:spPr>
          <a:xfrm>
            <a:off x="9713074" y="2724547"/>
            <a:ext cx="12700" cy="409575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3" name="Shape 51"/>
          <p:cNvSpPr/>
          <p:nvPr/>
        </p:nvSpPr>
        <p:spPr>
          <a:xfrm>
            <a:off x="9719424" y="2718197"/>
            <a:ext cx="1684891" cy="12700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4" name="Shape 52"/>
          <p:cNvSpPr/>
          <p:nvPr/>
        </p:nvSpPr>
        <p:spPr>
          <a:xfrm>
            <a:off x="3346366" y="4272459"/>
            <a:ext cx="12700" cy="1081881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5" name="Shape 53"/>
          <p:cNvSpPr/>
          <p:nvPr/>
        </p:nvSpPr>
        <p:spPr>
          <a:xfrm>
            <a:off x="6089498" y="4272459"/>
            <a:ext cx="12700" cy="1081881"/>
          </a:xfrm>
          <a:prstGeom prst="rect">
            <a:avLst/>
          </a:prstGeom>
          <a:solidFill>
            <a:srgbClr val="5E1822"/>
          </a:solidFill>
          <a:ln/>
        </p:spPr>
      </p:sp>
      <p:sp>
        <p:nvSpPr>
          <p:cNvPr id="56" name="Shape 54"/>
          <p:cNvSpPr/>
          <p:nvPr/>
        </p:nvSpPr>
        <p:spPr>
          <a:xfrm>
            <a:off x="8832629" y="4272459"/>
            <a:ext cx="12700" cy="1081881"/>
          </a:xfrm>
          <a:prstGeom prst="rect">
            <a:avLst/>
          </a:prstGeom>
          <a:solidFill>
            <a:srgbClr val="5E182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LPU HACKATHON · WAYFINDING 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2863056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kern="0" spc="-120" dirty="0">
                <a:solidFill>
                  <a:srgbClr val="FFFFFF"/>
                </a:solidFill>
                <a:latin typeface="Fraunces SemiBold" pitchFamily="34" charset="0"/>
                <a:ea typeface="Fraunces SemiBold" pitchFamily="34" charset="-122"/>
                <a:cs typeface="Fraunces Semi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688556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Here’s to making every campus destination easier to find.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6042124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13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LOVELY PROFESSIONAL UNIVERSITY · PHAGWARA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Custom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DM Sans SemiBold</vt:lpstr>
      <vt:lpstr>Calibri</vt:lpstr>
      <vt:lpstr>Fraunces SemiBold</vt:lpstr>
      <vt:lpstr>DM Sans</vt:lpstr>
      <vt:lpstr>DM Sans Bold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</cp:revision>
  <dcterms:created xsi:type="dcterms:W3CDTF">2026-09-11T19:10:16Z</dcterms:created>
  <dcterms:modified xsi:type="dcterms:W3CDTF">2026-09-11T22:12:19Z</dcterms:modified>
</cp:coreProperties>
</file>